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B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BEA9"/>
                </a:solidFill>
              </a:defRPr>
            </a:pPr>
            <a:r>
              <a:t>CAPSTONE PROJECT</a:t>
            </a:r>
          </a:p>
          <a:p>
            <a:pPr>
              <a:defRPr sz="4300" b="1">
                <a:solidFill>
                  <a:srgbClr val="F5F8FC"/>
                </a:solidFill>
              </a:defRPr>
            </a:pPr>
            <a:r>
              <a:t>Mutual Fund Analytics</a:t>
            </a:r>
          </a:p>
          <a:p>
            <a:pPr>
              <a:defRPr sz="2000">
                <a:solidFill>
                  <a:srgbClr val="F0BE48"/>
                </a:solidFill>
              </a:defRPr>
            </a:pPr>
            <a:r>
              <a:t>FinTech &amp; Financial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52044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EE7F1"/>
                </a:solidFill>
              </a:defRPr>
            </a:pPr>
            <a:r>
              <a:t>Ganesh Gampa &amp; Team</a:t>
            </a:r>
          </a:p>
          <a:p>
            <a:pPr>
              <a:defRPr sz="1500">
                <a:solidFill>
                  <a:srgbClr val="A5B7CA"/>
                </a:solidFill>
              </a:defRPr>
            </a:pPr>
            <a:r>
              <a:t>SQL • Python • SQLite • Streamlit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4B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364224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7CA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8FC"/>
                </a:solidFill>
              </a:defRPr>
            </a:pPr>
            <a:r>
              <a:t>Project Objective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Build an end-to-end mutual fund analytics platform from raw data to interactive insights.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Combine data cleaning, SQL star-schema modeling, automated database loading, and Streamlit dashboarding.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Data pipeline: clean_data.py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SQLite storage: bluestock_mf.db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Interactive web application: app.py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650992"/>
            <a:ext cx="10515600" cy="621792"/>
          </a:xfrm>
          <a:prstGeom prst="roundRect">
            <a:avLst/>
          </a:prstGeom>
          <a:solidFill>
            <a:srgbClr val="122334"/>
          </a:solidFill>
          <a:ln>
            <a:solidFill>
              <a:srgbClr val="24B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</a:defRPr>
            </a:pPr>
            <a:r>
              <a:t>Raw Data → Cleaning → Star Schema → Analytics →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4B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364224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7CA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8FC"/>
                </a:solidFill>
              </a:defRPr>
            </a:pPr>
            <a:r>
              <a:t>Data Cleaning &amp;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NAV History: parse dates, sort by AMFI code + date, and forward-fill weekend/holiday NAV gaps.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Investor Transactions: standardize SIP, Lumpsum, and Redemption transaction types.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Validate transaction amounts and verify KYC status enums.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Scheme Performance: clean return percentages and flag anomalous values.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Check expense-ratio bounds for data quality.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650992"/>
            <a:ext cx="10515600" cy="621792"/>
          </a:xfrm>
          <a:prstGeom prst="roundRect">
            <a:avLst/>
          </a:prstGeom>
          <a:solidFill>
            <a:srgbClr val="122334"/>
          </a:solidFill>
          <a:ln>
            <a:solidFill>
              <a:srgbClr val="24B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</a:defRPr>
            </a:pPr>
            <a:r>
              <a:t>Reliable, standardized, analysis-ready financial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4B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364224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7CA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8FC"/>
                </a:solidFill>
              </a:defRPr>
            </a:pPr>
            <a:r>
              <a:t>Database Architecture — Star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Dimension: dim_fund — Fund House, Category, Plan.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Dimension: dim_date — Year, Month, Quarter.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Facts: fact_nav, fact_transactions, fact_performance, fact_aum.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Python automation loads the model into bluestock_mf.db.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Primary and foreign keys enforce relationships and data integrity.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650992"/>
            <a:ext cx="10515600" cy="621792"/>
          </a:xfrm>
          <a:prstGeom prst="roundRect">
            <a:avLst/>
          </a:prstGeom>
          <a:solidFill>
            <a:srgbClr val="122334"/>
          </a:solidFill>
          <a:ln>
            <a:solidFill>
              <a:srgbClr val="24B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</a:defRPr>
            </a:pPr>
            <a:r>
              <a:t>Dimensions → Facts → SQL Analytics →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4B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364224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7CA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8FC"/>
                </a:solidFill>
              </a:defRPr>
            </a:pPr>
            <a:r>
              <a:t>Key Analytical Insights &amp; SQL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Top mutual funds ranked by Asset Under Management (AUM).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Monthly NAV trends and SIP Year-over-Year growth patterns.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Geographic distribution across Indian states and city tiers.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Risk-adjusted performance using Sharpe ratio.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Alpha and beta metrics for market-relative performance.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650992"/>
            <a:ext cx="10515600" cy="621792"/>
          </a:xfrm>
          <a:prstGeom prst="roundRect">
            <a:avLst/>
          </a:prstGeom>
          <a:solidFill>
            <a:srgbClr val="122334"/>
          </a:solidFill>
          <a:ln>
            <a:solidFill>
              <a:srgbClr val="24B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</a:defRPr>
            </a:pPr>
            <a:r>
              <a:t>Scale • Growth • Geography • Risk •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4B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364224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7C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8FC"/>
                </a:solidFill>
              </a:defRPr>
            </a:pPr>
            <a:r>
              <a:t>Streamlit Dashboard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Interactive filters for fund categories and date ranges.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Portfolio performance charts for comparing returns.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AUM growth visuals to track asset accumulation.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Transaction breakdowns for SIP, Lumpsum, and Redemption activity.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Streamlit converts SQL/Python outputs into an accessible decision-support interface.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650992"/>
            <a:ext cx="10515600" cy="621792"/>
          </a:xfrm>
          <a:prstGeom prst="roundRect">
            <a:avLst/>
          </a:prstGeom>
          <a:solidFill>
            <a:srgbClr val="122334"/>
          </a:solidFill>
          <a:ln>
            <a:solidFill>
              <a:srgbClr val="24B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</a:defRPr>
            </a:pPr>
            <a:r>
              <a:t>Filter → Explore → Compare → Interpret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4B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364224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7CA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8FC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Automated the ETL pipeline from data preparation through database loading.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Centralized mutual fund metrics in a structured SQLite star schema.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Delivered interactive analytics through Streamlit.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Future: deploy the Streamlit app to cloud hosting.</a:t>
            </a:r>
          </a:p>
          <a:p>
            <a:pPr>
              <a:spcAft>
                <a:spcPts val="1400"/>
              </a:spcAft>
              <a:defRPr sz="1900">
                <a:solidFill>
                  <a:srgbClr val="DEE7F1"/>
                </a:solidFill>
              </a:defRPr>
            </a:pPr>
            <a:r>
              <a:t>• Future: integrate real-time API feeds for continuously updated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650992"/>
            <a:ext cx="10515600" cy="621792"/>
          </a:xfrm>
          <a:prstGeom prst="roundRect">
            <a:avLst/>
          </a:prstGeom>
          <a:solidFill>
            <a:srgbClr val="122334"/>
          </a:solidFill>
          <a:ln>
            <a:solidFill>
              <a:srgbClr val="24B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</a:defRPr>
            </a:pPr>
            <a:r>
              <a:t>Automated • Scalable • Real-Time Mutual Fund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4B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364224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7CA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